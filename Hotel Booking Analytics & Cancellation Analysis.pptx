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CEBC0-EF9F-48FD-A280-2BDBB2409E32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8019F-F411-4612-BD4A-C68C63077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27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93D2-9180-9647-DE79-1A9469D14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B074A-C5C9-95AB-04AC-763F5F2A3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8EF2-3A9A-61A5-7254-6C15975C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69EEB-F5FD-D4D2-58A4-09C760FE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4C95B-B19B-2486-42A5-BFF29CC6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5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13CC-AC50-6D65-EEBB-5C0A31D5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D790C-09CA-0EF5-627E-4E764E83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176AE-23C7-079B-78E1-AC0B8239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38F66-9638-EB8A-4D67-14221E51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190FF-732B-7B33-6B37-52CAE222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91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883E-EC0E-D6BC-B546-46AFC8411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3E12-2E6D-CEF4-110E-4E4AD9AD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E6A90-09EA-1ADA-44CC-CB832115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C519-A440-B8D3-1995-680F6385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5D1AF-158E-D135-11A6-2F2693D5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76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F9BB-D2CC-03F1-735E-28BDECFF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000F-347A-A3CD-2045-9E0DF3F3D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8830-959E-4B92-F76F-47D3A573F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B2779-7FD8-3B10-20D2-A27E07F0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9B86E-2C23-1406-0545-F8E15777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84BB6-6737-75B6-C54B-BC8F52F5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9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B719-6A27-7837-6FFC-90458D1B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263E0-081A-0D9E-2EE0-B614E692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592E4-2871-9600-680B-3116B9C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D5E8F-E20E-ACEF-FC8D-646F940A4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98EEF-DAF1-E348-BB9A-E50CA4226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3472E-4621-C98B-0CA6-FB8442AB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58768-B08B-6B95-E32D-48B8EF64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D0ADA-A9D8-E253-F16B-267163AF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3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482A-2A43-B29E-B77D-DE3C7389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E61EB-3658-25F8-295F-E06142C5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65427-99E8-7DB3-AE85-7065B569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AC666-02BE-E451-4DFE-3B88F730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3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111EC-D179-05CC-5606-F0361EB0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32987-B5B4-D8F3-2B48-C2239BE3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93C67-34D8-7E7D-57CC-494CD6D6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2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5F81-9229-2FC4-C612-34BF66C8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1084-8079-DC40-BB85-1F3C0E22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C8B37-F8D8-65B1-972E-3D5DCAEF0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8E4D2-6341-C4D1-7962-B92DD017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9944A-EF4A-1883-E415-4B79C165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E026A-189A-0743-D0E7-5E692DEF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35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E8B4-D937-2F7E-9928-B0A1162E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EA7DF-E2D4-606B-9E5E-F8E52C723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5922F-4548-808C-8524-12EC52E75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69084-9044-1015-1AE4-EED3336D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2282D-5E90-6B62-B713-D8559B54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57CF8-734A-DA9E-EFA2-BCB110F5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62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5F00-2503-63DA-B830-4CE0DE55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8E26E-1B7E-475F-494E-838BDD581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C6F39-EF44-4AC2-81F2-BC8D84BE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E4A12-2C8B-E5F0-3AB8-6380369C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7320D-5C38-007B-4378-BA8C31F9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1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63039-5060-8001-178F-ADA823641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454C8-FC30-2681-89FC-6B76CA75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F6EAF-447D-FE82-591C-C99739C3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9BAED-85CE-78A2-E1E1-35290B36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203B0-FB7B-E434-F225-BD333B42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88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9A45D-5A8E-B425-6B0A-2FB538AC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45CFC-B4F7-8C3B-CB68-D52C49F01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E50A-A161-4586-80C5-065CC0042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1F93E-E11E-4B64-A54F-3C4D39ABFE9B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92DF9-801F-B289-F4A9-64AAF949D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739C-4EB0-AB24-0DC8-D6D076DA7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ED61E-2316-4AE8-9400-85A15B67C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1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F0B5-FBEB-E3F9-F190-B1993EFD3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67019" cy="1655762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Hotel Booking Analytics &amp; Cancellation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A0884-3363-58DF-D31D-40D0F6E7D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Objective: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booking </a:t>
            </a:r>
            <a:r>
              <a:rPr lang="en-IN" dirty="0" err="1"/>
              <a:t>behavior</a:t>
            </a:r>
            <a:r>
              <a:rPr lang="en-IN" dirty="0"/>
              <a:t>, cancellation trends, profitability drivers, and provide business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3811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3AA-84D9-588E-1313-E941D755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48"/>
            <a:ext cx="10390239" cy="972062"/>
          </a:xfrm>
        </p:spPr>
        <p:txBody>
          <a:bodyPr/>
          <a:lstStyle/>
          <a:p>
            <a:r>
              <a:rPr lang="en-IN" dirty="0"/>
              <a:t>Business 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6143E5-33D0-2195-6C28-A33BA4660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50810"/>
            <a:ext cx="900389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Understand booking patterns across: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Channels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Room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Star Ratings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Analyze cancellation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3.Identify revenue and profitability drivers.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4.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 strategies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Reduce cancellations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Increase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Improve customer retention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412A-9F8B-512E-E43C-BFF6683F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777A-3DB7-B597-8444-861315EE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800" dirty="0"/>
              <a:t>Total Records- 30,000</a:t>
            </a:r>
          </a:p>
          <a:p>
            <a:endParaRPr lang="en-IN" sz="1800" dirty="0"/>
          </a:p>
          <a:p>
            <a:r>
              <a:rPr lang="en-IN" sz="1800" b="1" dirty="0"/>
              <a:t>Key Fields</a:t>
            </a:r>
          </a:p>
          <a:p>
            <a:r>
              <a:rPr lang="en-IN" sz="1800" dirty="0"/>
              <a:t>Customer ID </a:t>
            </a:r>
          </a:p>
          <a:p>
            <a:r>
              <a:rPr lang="en-IN" sz="1800" dirty="0"/>
              <a:t>Property ID </a:t>
            </a:r>
          </a:p>
          <a:p>
            <a:r>
              <a:rPr lang="en-IN" sz="1800" dirty="0"/>
              <a:t>Booking Dates </a:t>
            </a:r>
          </a:p>
          <a:p>
            <a:r>
              <a:rPr lang="en-IN" sz="1800" dirty="0"/>
              <a:t>Check-In / Check-Out Dates </a:t>
            </a:r>
          </a:p>
          <a:p>
            <a:r>
              <a:rPr lang="en-IN" sz="1800" dirty="0"/>
              <a:t>Room Type </a:t>
            </a:r>
          </a:p>
          <a:p>
            <a:r>
              <a:rPr lang="en-IN" sz="1800" dirty="0"/>
              <a:t>Booking Channel </a:t>
            </a:r>
          </a:p>
          <a:p>
            <a:r>
              <a:rPr lang="en-IN" sz="1800" dirty="0"/>
              <a:t>Revenue Metrics </a:t>
            </a:r>
          </a:p>
          <a:p>
            <a:r>
              <a:rPr lang="en-IN" sz="1800" dirty="0"/>
              <a:t>Refund Information </a:t>
            </a:r>
          </a:p>
          <a:p>
            <a:r>
              <a:rPr lang="en-IN" sz="1800" dirty="0"/>
              <a:t>Booking Status</a:t>
            </a:r>
          </a:p>
          <a:p>
            <a:pPr marL="0" indent="0">
              <a:buNone/>
            </a:pPr>
            <a:endParaRPr lang="en-IN" sz="1800" dirty="0"/>
          </a:p>
          <a:p>
            <a:endParaRPr lang="en-IN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EABC7C7-0A09-5152-C0FF-C4F37F3B40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7733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93119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6CC6479-F8AB-0417-A818-FBEEAE8B9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744384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1540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55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0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499C-9BA5-B315-F729-ACC6D242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1037"/>
            <a:ext cx="10881852" cy="59715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/>
              <a:t>Data Cleaning Performed</a:t>
            </a:r>
            <a:br>
              <a:rPr lang="en-IN" sz="2800" b="1" dirty="0"/>
            </a:br>
            <a:r>
              <a:rPr lang="en-IN" sz="2800" b="1" dirty="0"/>
              <a:t>Created Views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EAE0-FEF7-2926-B5A0-9CFF1944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1445341"/>
            <a:ext cx="10515600" cy="5056086"/>
          </a:xfrm>
        </p:spPr>
        <p:txBody>
          <a:bodyPr>
            <a:normAutofit/>
          </a:bodyPr>
          <a:lstStyle/>
          <a:p>
            <a:r>
              <a:rPr lang="en-IN" sz="1600" b="1" dirty="0"/>
              <a:t>Confirmed Bookings : (</a:t>
            </a:r>
            <a:r>
              <a:rPr lang="en-IN" sz="1600" b="1" dirty="0" err="1"/>
              <a:t>vw_confirmed_bookings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dirty="0"/>
              <a:t>Used for:</a:t>
            </a:r>
          </a:p>
          <a:p>
            <a:r>
              <a:rPr lang="en-IN" sz="1600" dirty="0"/>
              <a:t>Revenue Analysis </a:t>
            </a:r>
          </a:p>
          <a:p>
            <a:r>
              <a:rPr lang="en-IN" sz="1600" dirty="0"/>
              <a:t>Channel Performance </a:t>
            </a:r>
          </a:p>
          <a:p>
            <a:r>
              <a:rPr lang="en-IN" sz="1600" dirty="0"/>
              <a:t>Room Type Analysis</a:t>
            </a:r>
          </a:p>
          <a:p>
            <a:endParaRPr lang="en-IN" sz="1600" dirty="0"/>
          </a:p>
          <a:p>
            <a:r>
              <a:rPr lang="en-IN" sz="1600" b="1" dirty="0"/>
              <a:t>Valid Stays : (</a:t>
            </a:r>
            <a:r>
              <a:rPr lang="en-IN" sz="1600" b="1" dirty="0" err="1"/>
              <a:t>vw_valid_stays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dirty="0"/>
              <a:t>Used for:</a:t>
            </a:r>
          </a:p>
          <a:p>
            <a:r>
              <a:rPr lang="en-IN" sz="1600" dirty="0"/>
              <a:t>Stay Length Analysis </a:t>
            </a:r>
          </a:p>
          <a:p>
            <a:r>
              <a:rPr lang="en-IN" sz="1600" dirty="0"/>
              <a:t>Lead Time Analysis </a:t>
            </a:r>
          </a:p>
          <a:p>
            <a:r>
              <a:rPr lang="en-IN" sz="1600" dirty="0"/>
              <a:t>Seasonality Analysis</a:t>
            </a:r>
          </a:p>
          <a:p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25290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6DAD-64B9-FBD9-1EA4-990F29031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78" y="7570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500" b="1" dirty="0"/>
              <a:t>KPI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A4984-719B-F6EC-F724-90E78259F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378" y="1951019"/>
            <a:ext cx="10515600" cy="4149970"/>
          </a:xfrm>
        </p:spPr>
        <p:txBody>
          <a:bodyPr/>
          <a:lstStyle/>
          <a:p>
            <a:r>
              <a:rPr lang="en-US" sz="2500" dirty="0"/>
              <a:t>Total Bookings – </a:t>
            </a:r>
            <a:r>
              <a:rPr lang="en-US" sz="2400" dirty="0"/>
              <a:t>30,000</a:t>
            </a:r>
          </a:p>
          <a:p>
            <a:r>
              <a:rPr lang="en-US" sz="2500" dirty="0"/>
              <a:t>Total Revenue - </a:t>
            </a:r>
            <a:r>
              <a:rPr lang="en-US" sz="2400" dirty="0"/>
              <a:t>752415763.63</a:t>
            </a:r>
          </a:p>
          <a:p>
            <a:r>
              <a:rPr lang="en-US" sz="2500" dirty="0"/>
              <a:t>Total Profit -  </a:t>
            </a:r>
            <a:r>
              <a:rPr lang="en-US" sz="2400" dirty="0"/>
              <a:t>752415763.63</a:t>
            </a:r>
          </a:p>
          <a:p>
            <a:r>
              <a:rPr lang="en-US" sz="2500" dirty="0"/>
              <a:t>Cancellation Rate - </a:t>
            </a:r>
            <a:r>
              <a:rPr lang="en-US" sz="2400" dirty="0"/>
              <a:t>20.23%</a:t>
            </a:r>
          </a:p>
          <a:p>
            <a:r>
              <a:rPr lang="en-US" sz="2500" dirty="0"/>
              <a:t>Average Booking Value - </a:t>
            </a:r>
            <a:r>
              <a:rPr lang="en-US" sz="2400" dirty="0"/>
              <a:t>25080.53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358437-FAE2-2AE5-6F56-79F95DC44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525" y="1419792"/>
            <a:ext cx="4349583" cy="27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72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84B0-0616-5A44-4169-AAD610D7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Booking Status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4379D0-9712-29F7-2DF1-4A29CFD47A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95" y="2069961"/>
            <a:ext cx="4651677" cy="226012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1EAAE-3B1E-6779-DE80-B032624FD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5723" y="1825625"/>
            <a:ext cx="6008077" cy="4351338"/>
          </a:xfrm>
        </p:spPr>
        <p:txBody>
          <a:bodyPr/>
          <a:lstStyle/>
          <a:p>
            <a:r>
              <a:rPr lang="en-IN" sz="2000" b="1" dirty="0"/>
              <a:t>Insight</a:t>
            </a:r>
          </a:p>
          <a:p>
            <a:r>
              <a:rPr lang="en-IN" sz="2000" dirty="0"/>
              <a:t>72% bookings successfully completed. </a:t>
            </a:r>
          </a:p>
          <a:p>
            <a:r>
              <a:rPr lang="en-IN" sz="2000" dirty="0"/>
              <a:t>20% bookings cancelled. </a:t>
            </a:r>
          </a:p>
          <a:p>
            <a:r>
              <a:rPr lang="en-IN" sz="2000" dirty="0"/>
              <a:t>8% booking failures.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5212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EF54-A406-C157-885E-41BDCC60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Channel Performance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7DC3C7-3D9C-EE53-E26F-E40B0E86F7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0321" y="1825625"/>
            <a:ext cx="4553585" cy="182856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8FB1A-C91C-B759-84F2-9FA112A797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Insight</a:t>
            </a:r>
          </a:p>
          <a:p>
            <a:pPr marL="0" indent="0">
              <a:buNone/>
            </a:pPr>
            <a:r>
              <a:rPr lang="en-IN" sz="1800" b="1" dirty="0"/>
              <a:t>Web Channel</a:t>
            </a:r>
            <a:r>
              <a:rPr lang="en-IN" sz="1800" dirty="0"/>
              <a:t>:</a:t>
            </a:r>
          </a:p>
          <a:p>
            <a:r>
              <a:rPr lang="en-IN" sz="1800" dirty="0"/>
              <a:t>Highest booking volume. </a:t>
            </a:r>
          </a:p>
          <a:p>
            <a:r>
              <a:rPr lang="en-IN" sz="1800" dirty="0"/>
              <a:t>Highest revenue. </a:t>
            </a:r>
          </a:p>
          <a:p>
            <a:r>
              <a:rPr lang="en-IN" sz="1800" dirty="0"/>
              <a:t>Lowest cancellation rate. </a:t>
            </a:r>
          </a:p>
          <a:p>
            <a:pPr marL="0" indent="0">
              <a:buNone/>
            </a:pPr>
            <a:r>
              <a:rPr lang="en-IN" sz="1800" b="1" dirty="0"/>
              <a:t>Travel Agent</a:t>
            </a:r>
            <a:r>
              <a:rPr lang="en-IN" sz="1800" dirty="0"/>
              <a:t>:</a:t>
            </a:r>
          </a:p>
          <a:p>
            <a:r>
              <a:rPr lang="en-IN" sz="1800" dirty="0"/>
              <a:t>Lowest performance. </a:t>
            </a:r>
          </a:p>
          <a:p>
            <a:r>
              <a:rPr lang="en-IN" sz="1800" dirty="0"/>
              <a:t>Highest cancellation rate.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44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AD9C-724D-F233-0295-55E1AECC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Room Type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13E198-58C6-29CA-03B8-F293E60C02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5625"/>
            <a:ext cx="4216121" cy="16033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EA0A3-651E-20BC-8F71-01DEF35AF8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Insight</a:t>
            </a:r>
          </a:p>
          <a:p>
            <a:r>
              <a:rPr lang="en-IN" sz="1800" b="1" dirty="0"/>
              <a:t>Standard Rooms</a:t>
            </a:r>
            <a:r>
              <a:rPr lang="en-IN" sz="1800" dirty="0"/>
              <a:t>:</a:t>
            </a:r>
          </a:p>
          <a:p>
            <a:r>
              <a:rPr lang="en-IN" sz="1800" dirty="0"/>
              <a:t>Drive maximum occupancy. </a:t>
            </a:r>
          </a:p>
          <a:p>
            <a:r>
              <a:rPr lang="en-IN" sz="1800" dirty="0"/>
              <a:t>Higher cancellation risk. </a:t>
            </a:r>
          </a:p>
          <a:p>
            <a:r>
              <a:rPr lang="en-IN" sz="1800" b="1" dirty="0"/>
              <a:t>Suites</a:t>
            </a:r>
            <a:r>
              <a:rPr lang="en-IN" sz="1800" dirty="0"/>
              <a:t>:</a:t>
            </a:r>
          </a:p>
          <a:p>
            <a:r>
              <a:rPr lang="en-IN" sz="1800" dirty="0"/>
              <a:t>Lower volume. </a:t>
            </a:r>
          </a:p>
          <a:p>
            <a:r>
              <a:rPr lang="en-IN" sz="1800" dirty="0"/>
              <a:t>Higher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69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E8322-687A-99EF-5672-09130A32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 Rating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650DBE-8938-E56D-AE5C-23BF6C76DF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8258" y="1620173"/>
            <a:ext cx="3162291" cy="132556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FAF99-CFF3-9A99-0737-87AAC3B7D8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Insight</a:t>
            </a:r>
          </a:p>
          <a:p>
            <a:r>
              <a:rPr lang="en-IN" sz="1800" dirty="0"/>
              <a:t>4-star hotels provide the best value proposition.</a:t>
            </a:r>
          </a:p>
          <a:p>
            <a:r>
              <a:rPr lang="en-IN" sz="1800" b="1" dirty="0"/>
              <a:t>Business Conclusion</a:t>
            </a:r>
          </a:p>
          <a:p>
            <a:r>
              <a:rPr lang="en-IN" sz="1800" dirty="0"/>
              <a:t>Expand partnerships with 4-star properties.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86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CA47-EFF4-E3B6-C9AE-28C53A4D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Cancellation Analysis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4B381A5-C7DE-A641-C75C-8808F13FB4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38214" y="2102666"/>
            <a:ext cx="3350096" cy="1162212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E60ED3-6D1E-43BA-8010-B7A2E3178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Root Cause</a:t>
            </a:r>
          </a:p>
          <a:p>
            <a:r>
              <a:rPr lang="en-IN" sz="1800" dirty="0"/>
              <a:t>Flexible cancellation policies. </a:t>
            </a:r>
          </a:p>
          <a:p>
            <a:r>
              <a:rPr lang="en-IN" sz="1800" dirty="0"/>
              <a:t>Duplicate bookings. </a:t>
            </a:r>
          </a:p>
          <a:p>
            <a:r>
              <a:rPr lang="en-IN" sz="1800" dirty="0"/>
              <a:t>Price comparison </a:t>
            </a:r>
            <a:r>
              <a:rPr lang="en-IN" sz="1800" dirty="0" err="1"/>
              <a:t>behavior</a:t>
            </a:r>
            <a:r>
              <a:rPr lang="en-IN" sz="18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95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7D02-D4B8-AABE-C782-63748D07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Cancellation by Room Type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64D02E-37A1-2A8C-E11D-FC00B3713F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7881" y="1909457"/>
            <a:ext cx="5181600" cy="136854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55204-1AF9-15D0-19D6-900DE05498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Root Cause</a:t>
            </a:r>
          </a:p>
          <a:p>
            <a:r>
              <a:rPr lang="en-IN" sz="1800" dirty="0"/>
              <a:t>Budget-sensitive customers. </a:t>
            </a:r>
          </a:p>
          <a:p>
            <a:r>
              <a:rPr lang="en-IN" sz="1800" dirty="0"/>
              <a:t>High competition. </a:t>
            </a:r>
          </a:p>
          <a:p>
            <a:r>
              <a:rPr lang="en-IN" sz="1800" dirty="0"/>
              <a:t>Price-shopping </a:t>
            </a:r>
            <a:r>
              <a:rPr lang="en-IN" sz="1800" dirty="0" err="1"/>
              <a:t>behavior</a:t>
            </a:r>
            <a:r>
              <a:rPr lang="en-IN" sz="1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67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C925-B2BE-295D-6710-C70738C1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Lead Time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EFC6A4-DD30-8B77-759A-A40C319D90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5865" y="1690688"/>
            <a:ext cx="5163271" cy="140037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06A1B-6790-2E01-7590-3EED13D383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Insight</a:t>
            </a:r>
          </a:p>
          <a:p>
            <a:r>
              <a:rPr lang="en-IN" sz="1800" dirty="0"/>
              <a:t>Long lead-time bookings show higher cancellation probability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92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5B60-ED9A-0717-08EC-33FE11A5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Seasonal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EA80F4-CAA3-3803-6875-9D5519CC0F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95755" y="1909187"/>
            <a:ext cx="3462142" cy="34734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C55CB-6405-52D1-0F06-877873B22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48929"/>
            <a:ext cx="5181600" cy="5528034"/>
          </a:xfrm>
        </p:spPr>
        <p:txBody>
          <a:bodyPr>
            <a:normAutofit/>
          </a:bodyPr>
          <a:lstStyle/>
          <a:p>
            <a:r>
              <a:rPr lang="en-IN" sz="2300" b="1" dirty="0"/>
              <a:t>Monthly Revenue Trend</a:t>
            </a:r>
          </a:p>
          <a:p>
            <a:r>
              <a:rPr lang="en-IN" sz="2300" b="1" dirty="0"/>
              <a:t>Findings</a:t>
            </a:r>
          </a:p>
          <a:p>
            <a:r>
              <a:rPr lang="en-IN" sz="2300" dirty="0"/>
              <a:t>Peak Months:</a:t>
            </a:r>
          </a:p>
          <a:p>
            <a:r>
              <a:rPr lang="en-IN" sz="1800" dirty="0"/>
              <a:t>February </a:t>
            </a:r>
          </a:p>
          <a:p>
            <a:r>
              <a:rPr lang="en-IN" sz="1800" dirty="0"/>
              <a:t>March </a:t>
            </a:r>
          </a:p>
          <a:p>
            <a:r>
              <a:rPr lang="en-IN" sz="1800" dirty="0"/>
              <a:t>August </a:t>
            </a:r>
          </a:p>
          <a:p>
            <a:r>
              <a:rPr lang="en-IN" sz="1800" dirty="0"/>
              <a:t>November </a:t>
            </a:r>
          </a:p>
          <a:p>
            <a:r>
              <a:rPr lang="en-IN" sz="2300" b="1" dirty="0"/>
              <a:t>Business Interpretation</a:t>
            </a:r>
          </a:p>
          <a:p>
            <a:r>
              <a:rPr lang="en-IN" sz="1800" dirty="0"/>
              <a:t>Likely influenced by:</a:t>
            </a:r>
          </a:p>
          <a:p>
            <a:r>
              <a:rPr lang="en-IN" sz="1800" dirty="0"/>
              <a:t>Holidays </a:t>
            </a:r>
          </a:p>
          <a:p>
            <a:r>
              <a:rPr lang="en-IN" sz="1800" dirty="0"/>
              <a:t>Festivals </a:t>
            </a:r>
          </a:p>
          <a:p>
            <a:r>
              <a:rPr lang="en-IN" sz="1800" dirty="0"/>
              <a:t>Business travel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684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F146-70D8-47DF-4633-411C9842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Stay Length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83CD94-AB45-4F71-453C-61DE5B6491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3466" y="2115905"/>
            <a:ext cx="2787257" cy="144337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18716-E5A8-28AD-EC98-ADA998C1DC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b="1" dirty="0"/>
              <a:t>Insight</a:t>
            </a:r>
          </a:p>
          <a:p>
            <a:r>
              <a:rPr lang="en-IN" sz="1800" b="1" dirty="0"/>
              <a:t>Most guests stay</a:t>
            </a:r>
            <a:r>
              <a:rPr lang="en-IN" sz="1800" dirty="0"/>
              <a:t>:</a:t>
            </a:r>
          </a:p>
          <a:p>
            <a:r>
              <a:rPr lang="en-IN" sz="1800" dirty="0"/>
              <a:t>2–6 nights</a:t>
            </a:r>
          </a:p>
          <a:p>
            <a:r>
              <a:rPr lang="en-IN" sz="1800" b="1" dirty="0"/>
              <a:t>Business Opportunity</a:t>
            </a:r>
          </a:p>
          <a:p>
            <a:r>
              <a:rPr lang="en-IN" sz="1800" dirty="0"/>
              <a:t>Create long-stay discounts.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6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5B1F-045B-7CBD-72B5-460D966C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282881"/>
            <a:ext cx="10515600" cy="1325563"/>
          </a:xfrm>
        </p:spPr>
        <p:txBody>
          <a:bodyPr/>
          <a:lstStyle/>
          <a:p>
            <a:r>
              <a:rPr lang="en-IN" b="1" dirty="0">
                <a:highlight>
                  <a:srgbClr val="00FF00"/>
                </a:highlight>
              </a:rPr>
              <a:t>Root Cause Analysis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A85D4-08A2-4FF5-9238-27A87FE9E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998372"/>
          </a:xfrm>
        </p:spPr>
        <p:txBody>
          <a:bodyPr>
            <a:normAutofit/>
          </a:bodyPr>
          <a:lstStyle/>
          <a:p>
            <a:r>
              <a:rPr lang="en-IN" b="1" dirty="0"/>
              <a:t>Why Are Cancellations High?</a:t>
            </a:r>
          </a:p>
          <a:p>
            <a:r>
              <a:rPr lang="en-IN" sz="2200" b="1" dirty="0"/>
              <a:t>Travel Agent Channel</a:t>
            </a:r>
          </a:p>
          <a:p>
            <a:r>
              <a:rPr lang="en-IN" sz="1800" dirty="0"/>
              <a:t>Duplicate reservations </a:t>
            </a:r>
          </a:p>
          <a:p>
            <a:r>
              <a:rPr lang="en-IN" sz="1800" dirty="0"/>
              <a:t>Delayed confirmations </a:t>
            </a:r>
          </a:p>
          <a:p>
            <a:r>
              <a:rPr lang="en-IN" sz="2200" b="1" dirty="0"/>
              <a:t>Standard Rooms</a:t>
            </a:r>
          </a:p>
          <a:p>
            <a:r>
              <a:rPr lang="en-IN" sz="1800" dirty="0"/>
              <a:t>Price-sensitive customers </a:t>
            </a:r>
          </a:p>
          <a:p>
            <a:r>
              <a:rPr lang="en-IN" sz="2200" b="1" dirty="0"/>
              <a:t>Long Lead Times</a:t>
            </a:r>
          </a:p>
          <a:p>
            <a:r>
              <a:rPr lang="en-IN" sz="1800" dirty="0"/>
              <a:t>Increased plan changes </a:t>
            </a:r>
          </a:p>
          <a:p>
            <a:r>
              <a:rPr lang="en-IN" sz="2200" b="1" dirty="0"/>
              <a:t>Premium Hotels</a:t>
            </a:r>
          </a:p>
          <a:p>
            <a:r>
              <a:rPr lang="en-IN" sz="1800" dirty="0"/>
              <a:t>Corporate travel adjustments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105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E0CD-8571-EFF2-C564-279CFFF9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6210D-0117-3171-D1CC-C8FB1CFE0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Reduce Cancellations</a:t>
            </a:r>
          </a:p>
          <a:p>
            <a:r>
              <a:rPr lang="en-IN" sz="2200" b="1" dirty="0"/>
              <a:t>Recommendation 1</a:t>
            </a:r>
          </a:p>
          <a:p>
            <a:r>
              <a:rPr lang="en-IN" sz="1800" dirty="0"/>
              <a:t>Introduce non-refundable discounted rates.</a:t>
            </a:r>
          </a:p>
          <a:p>
            <a:r>
              <a:rPr lang="en-IN" sz="2200" b="1" dirty="0"/>
              <a:t>Recommendation 2</a:t>
            </a:r>
          </a:p>
          <a:p>
            <a:r>
              <a:rPr lang="en-IN" sz="1800" dirty="0"/>
              <a:t>Require partial prepayment.</a:t>
            </a:r>
          </a:p>
          <a:p>
            <a:r>
              <a:rPr lang="en-IN" sz="2200" b="1" dirty="0"/>
              <a:t>Recommendation 3</a:t>
            </a:r>
          </a:p>
          <a:p>
            <a:r>
              <a:rPr lang="en-IN" sz="1800" dirty="0"/>
              <a:t>Automated reminder emails.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8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A317-F132-C0C3-EA45-63271D63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Increase 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5174-EC46-228C-1E40-F6F90FC8B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Recommendation 1</a:t>
            </a:r>
          </a:p>
          <a:p>
            <a:r>
              <a:rPr lang="en-IN" sz="1900" dirty="0"/>
              <a:t>Upsell:</a:t>
            </a:r>
          </a:p>
          <a:p>
            <a:r>
              <a:rPr lang="en-IN" sz="1900" dirty="0"/>
              <a:t>Standard → Deluxe</a:t>
            </a:r>
          </a:p>
          <a:p>
            <a:r>
              <a:rPr lang="en-IN" sz="2200" b="1" dirty="0"/>
              <a:t>Recommendation 2</a:t>
            </a:r>
          </a:p>
          <a:p>
            <a:r>
              <a:rPr lang="en-IN" sz="1900" dirty="0"/>
              <a:t>Cross-sell:</a:t>
            </a:r>
          </a:p>
          <a:p>
            <a:r>
              <a:rPr lang="en-IN" sz="1900" dirty="0"/>
              <a:t>Breakfast </a:t>
            </a:r>
          </a:p>
          <a:p>
            <a:r>
              <a:rPr lang="en-IN" sz="1900" dirty="0"/>
              <a:t>Airport Transfers </a:t>
            </a:r>
          </a:p>
          <a:p>
            <a:r>
              <a:rPr lang="en-IN" sz="1900" dirty="0"/>
              <a:t>Room Upgrades </a:t>
            </a:r>
          </a:p>
          <a:p>
            <a:r>
              <a:rPr lang="en-IN" sz="2200" b="1" dirty="0"/>
              <a:t>Recommendation 3</a:t>
            </a:r>
          </a:p>
          <a:p>
            <a:r>
              <a:rPr lang="en-IN" sz="1900" dirty="0"/>
              <a:t>Promote premium rooms.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086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B703-BFD6-82A3-978A-6228DA6F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Customer Retention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A7B7-E2A0-CAC9-A9D7-54776C10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Loyalty Program</a:t>
            </a:r>
          </a:p>
          <a:p>
            <a:r>
              <a:rPr lang="en-IN" sz="1900" b="1" dirty="0"/>
              <a:t>Example:</a:t>
            </a:r>
          </a:p>
          <a:p>
            <a:r>
              <a:rPr lang="en-IN" sz="1800" dirty="0"/>
              <a:t>3 stays → 5% cashback</a:t>
            </a:r>
          </a:p>
          <a:p>
            <a:r>
              <a:rPr lang="en-IN" b="1" dirty="0"/>
              <a:t>Benefits</a:t>
            </a:r>
          </a:p>
          <a:p>
            <a:r>
              <a:rPr lang="en-IN" sz="2000" dirty="0"/>
              <a:t>Repeat bookings </a:t>
            </a:r>
          </a:p>
          <a:p>
            <a:r>
              <a:rPr lang="en-IN" sz="2000" dirty="0"/>
              <a:t>Higher customer lifetime value </a:t>
            </a:r>
          </a:p>
          <a:p>
            <a:r>
              <a:rPr lang="en-IN" sz="2000" dirty="0"/>
              <a:t>Lower acquisition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466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1A83-6FDC-639A-6A27-9CEE6CF0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Pricing &amp; Channel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861E-3849-2C8B-53D6-495BF539D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Dynamic Pricing</a:t>
            </a:r>
          </a:p>
          <a:p>
            <a:r>
              <a:rPr lang="en-IN" sz="2100" b="1" dirty="0"/>
              <a:t>Peak Months</a:t>
            </a:r>
            <a:r>
              <a:rPr lang="en-IN" sz="2100" dirty="0"/>
              <a:t>:</a:t>
            </a:r>
          </a:p>
          <a:p>
            <a:r>
              <a:rPr lang="en-IN" sz="2100" dirty="0"/>
              <a:t>Increase room rates </a:t>
            </a:r>
          </a:p>
          <a:p>
            <a:r>
              <a:rPr lang="en-IN" sz="2100" b="1" dirty="0"/>
              <a:t>Low-Demand Months</a:t>
            </a:r>
            <a:r>
              <a:rPr lang="en-IN" sz="2100" dirty="0"/>
              <a:t>:</a:t>
            </a:r>
          </a:p>
          <a:p>
            <a:r>
              <a:rPr lang="en-IN" sz="2100" dirty="0"/>
              <a:t>Run promotions </a:t>
            </a:r>
          </a:p>
          <a:p>
            <a:r>
              <a:rPr lang="en-IN" b="1" dirty="0"/>
              <a:t>Channel Strategy</a:t>
            </a:r>
          </a:p>
          <a:p>
            <a:r>
              <a:rPr lang="en-IN" sz="1900" b="1" dirty="0"/>
              <a:t>Increase investment in</a:t>
            </a:r>
            <a:r>
              <a:rPr lang="en-IN" sz="1900" dirty="0"/>
              <a:t>:</a:t>
            </a:r>
          </a:p>
          <a:p>
            <a:r>
              <a:rPr lang="en-IN" sz="1900" dirty="0"/>
              <a:t>Web </a:t>
            </a:r>
          </a:p>
          <a:p>
            <a:r>
              <a:rPr lang="en-IN" sz="1900" dirty="0"/>
              <a:t>Mobile App </a:t>
            </a:r>
          </a:p>
          <a:p>
            <a:r>
              <a:rPr lang="en-IN" sz="1900" b="1" dirty="0"/>
              <a:t>Reduce dependence on</a:t>
            </a:r>
            <a:r>
              <a:rPr lang="en-IN" sz="1900" dirty="0"/>
              <a:t>:</a:t>
            </a:r>
          </a:p>
          <a:p>
            <a:r>
              <a:rPr lang="en-IN" sz="1900" dirty="0"/>
              <a:t>Travel Agents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9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2A84-1045-A747-D961-D8B67BC6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FF0000"/>
                </a:highlight>
              </a:rPr>
              <a:t>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02831-F7B3-5A08-C374-833CD3EBF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0"/>
            <a:ext cx="10515600" cy="499478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Key Findings</a:t>
            </a:r>
          </a:p>
          <a:p>
            <a:r>
              <a:rPr lang="en-IN" dirty="0"/>
              <a:t>Web channel is the strongest revenue driver. </a:t>
            </a:r>
          </a:p>
          <a:p>
            <a:r>
              <a:rPr lang="en-IN" dirty="0"/>
              <a:t>Standard rooms generate the highest demand. </a:t>
            </a:r>
          </a:p>
          <a:p>
            <a:r>
              <a:rPr lang="en-IN" dirty="0"/>
              <a:t>4-star hotels dominate bookings. </a:t>
            </a:r>
          </a:p>
          <a:p>
            <a:r>
              <a:rPr lang="en-IN" dirty="0"/>
              <a:t>Cancellation rate is approximately 20%. </a:t>
            </a:r>
          </a:p>
          <a:p>
            <a:r>
              <a:rPr lang="en-IN" dirty="0"/>
              <a:t>Long lead-time bookings are more likely to cancel. </a:t>
            </a:r>
          </a:p>
          <a:p>
            <a:r>
              <a:rPr lang="en-IN" dirty="0"/>
              <a:t>Peak seasons significantly increase revenue. </a:t>
            </a:r>
          </a:p>
          <a:p>
            <a:r>
              <a:rPr lang="en-IN" b="1" dirty="0"/>
              <a:t>Strategic Actions</a:t>
            </a:r>
          </a:p>
          <a:p>
            <a:pPr marL="0" indent="0">
              <a:buNone/>
            </a:pPr>
            <a:r>
              <a:rPr lang="en-IN" dirty="0"/>
              <a:t>✓ Reduce cancellations through prepayments and reminders.</a:t>
            </a:r>
          </a:p>
          <a:p>
            <a:pPr marL="0" indent="0">
              <a:buNone/>
            </a:pPr>
            <a:r>
              <a:rPr lang="en-IN" dirty="0"/>
              <a:t>✓ Focus marketing on direct channels.</a:t>
            </a:r>
          </a:p>
          <a:p>
            <a:pPr marL="0" indent="0">
              <a:buNone/>
            </a:pPr>
            <a:r>
              <a:rPr lang="en-IN" dirty="0"/>
              <a:t>✓ Implement dynamic pricing.</a:t>
            </a:r>
          </a:p>
          <a:p>
            <a:pPr marL="0" indent="0">
              <a:buNone/>
            </a:pPr>
            <a:r>
              <a:rPr lang="en-IN" dirty="0"/>
              <a:t>✓ Strengthen loyalty programs.</a:t>
            </a:r>
          </a:p>
          <a:p>
            <a:pPr marL="0" indent="0">
              <a:buNone/>
            </a:pPr>
            <a:r>
              <a:rPr lang="en-IN" dirty="0"/>
              <a:t>✓ Upsell premium room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356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6B1F-40B4-83FC-E948-50CE28BF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16" y="223325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FF0000"/>
                </a:highlight>
              </a:rPr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52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558</Words>
  <Application>Microsoft Office PowerPoint</Application>
  <PresentationFormat>Widescreen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Hotel Booking Analytics &amp; Cancellation Analysis</vt:lpstr>
      <vt:lpstr>Business Problem Statement</vt:lpstr>
      <vt:lpstr>Dataset Information</vt:lpstr>
      <vt:lpstr>Data Cleaning Performed Created Views </vt:lpstr>
      <vt:lpstr>KPI Dashboard</vt:lpstr>
      <vt:lpstr>Booking Status Analysis</vt:lpstr>
      <vt:lpstr>Channel Performance Analysis</vt:lpstr>
      <vt:lpstr>Room Type Analysis</vt:lpstr>
      <vt:lpstr>Star Rating Analysis</vt:lpstr>
      <vt:lpstr>Cancellation Analysis</vt:lpstr>
      <vt:lpstr>Cancellation by Room Type</vt:lpstr>
      <vt:lpstr>Lead Time Analysis</vt:lpstr>
      <vt:lpstr>Seasonal Analysis</vt:lpstr>
      <vt:lpstr>Stay Length Analysis</vt:lpstr>
      <vt:lpstr>Root Cause Analysis Summary</vt:lpstr>
      <vt:lpstr>Business Recommendations</vt:lpstr>
      <vt:lpstr>Increase Profitability</vt:lpstr>
      <vt:lpstr>Customer Retention Strategy</vt:lpstr>
      <vt:lpstr>Pricing &amp; Channel Optimization</vt:lpstr>
      <vt:lpstr>Final 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Acciojob123@outlook.com</dc:creator>
  <cp:lastModifiedBy>Acciojob123@outlook.com</cp:lastModifiedBy>
  <cp:revision>1</cp:revision>
  <cp:lastPrinted>2026-06-14T05:06:30Z</cp:lastPrinted>
  <dcterms:created xsi:type="dcterms:W3CDTF">2026-06-14T03:23:12Z</dcterms:created>
  <dcterms:modified xsi:type="dcterms:W3CDTF">2026-06-14T05:10:48Z</dcterms:modified>
</cp:coreProperties>
</file>